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</dgm:ptLst>
  <dgm:cxnLst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1283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19"/>
            <a:ext cx="9440034" cy="6590389"/>
          </a:xfrm>
        </p:spPr>
        <p:txBody>
          <a:bodyPr>
            <a:normAutofit fontScale="90000"/>
          </a:bodyPr>
          <a:lstStyle/>
          <a:p>
            <a:r>
              <a:rPr lang="en-ZA" b="1" dirty="0">
                <a:effectLst/>
              </a:rPr>
              <a:t>PowerPoint Presentation: CMCS - PROG6212 Final POE</a:t>
            </a:r>
            <a:br>
              <a:rPr lang="en-ZA" dirty="0">
                <a:effectLst/>
              </a:rPr>
            </a:br>
            <a:r>
              <a:rPr lang="en-ZA" b="1" dirty="0">
                <a:effectLst/>
              </a:rPr>
              <a:t>Title:</a:t>
            </a:r>
            <a:r>
              <a:rPr lang="en-ZA" dirty="0">
                <a:effectLst/>
              </a:rPr>
              <a:t> Contract Monthly Claim System (CMCS)</a:t>
            </a:r>
            <a:br>
              <a:rPr lang="en-ZA" dirty="0">
                <a:effectLst/>
              </a:rPr>
            </a:br>
            <a:r>
              <a:rPr lang="en-ZA" b="1" dirty="0">
                <a:effectLst/>
              </a:rPr>
              <a:t>Subtitle:</a:t>
            </a:r>
            <a:r>
              <a:rPr lang="en-ZA" dirty="0">
                <a:effectLst/>
              </a:rPr>
              <a:t> PROG6212 Final Portfolio of Evidence (POE)</a:t>
            </a:r>
            <a:br>
              <a:rPr lang="en-ZA" dirty="0">
                <a:effectLst/>
              </a:rPr>
            </a:br>
            <a:r>
              <a:rPr lang="en-ZA" b="1" dirty="0">
                <a:effectLst/>
              </a:rPr>
              <a:t>Name: Muvhumbi Motseo</a:t>
            </a:r>
            <a:br>
              <a:rPr lang="en-ZA" dirty="0">
                <a:effectLst/>
              </a:rPr>
            </a:br>
            <a:r>
              <a:rPr lang="en-ZA" b="1" dirty="0">
                <a:effectLst/>
              </a:rPr>
              <a:t>Student Number: st10055316</a:t>
            </a:r>
            <a:br>
              <a:rPr lang="en-ZA" dirty="0">
                <a:effectLst/>
              </a:rPr>
            </a:br>
            <a:r>
              <a:rPr lang="en-ZA" b="1" dirty="0">
                <a:effectLst/>
              </a:rPr>
              <a:t>Institution:</a:t>
            </a:r>
            <a:r>
              <a:rPr lang="en-ZA" dirty="0">
                <a:effectLst/>
              </a:rPr>
              <a:t> Independent Institute of Education Emeris</a:t>
            </a:r>
            <a:br>
              <a:rPr lang="en-ZA" dirty="0">
                <a:effectLst/>
              </a:rPr>
            </a:br>
            <a:r>
              <a:rPr lang="en-ZA" b="1" dirty="0">
                <a:effectLst/>
              </a:rPr>
              <a:t>Date:</a:t>
            </a:r>
            <a:r>
              <a:rPr lang="en-ZA" dirty="0">
                <a:effectLst/>
              </a:rPr>
              <a:t> 21 November 2025</a:t>
            </a:r>
            <a:br>
              <a:rPr lang="en-ZA" dirty="0">
                <a:effectLst/>
              </a:rPr>
            </a:b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623960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24626A-0CDB-2632-9CB3-937D028FE12D}"/>
              </a:ext>
            </a:extLst>
          </p:cNvPr>
          <p:cNvSpPr txBox="1"/>
          <p:nvPr/>
        </p:nvSpPr>
        <p:spPr>
          <a:xfrm>
            <a:off x="552091" y="936010"/>
            <a:ext cx="8589752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Project Overview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What is the CMCS?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A comprehensive </a:t>
            </a: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web-based system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for managing monthly contract claims for lecturers.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Implements a </a:t>
            </a: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multi-role workflow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Key Roles: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1143000" lvl="2" indent="-22860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HR (Super User):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Manages all users.</a:t>
            </a:r>
          </a:p>
          <a:p>
            <a:pPr marL="1143000" lvl="2" indent="-2286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Lecturer: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Submits and tracks claims.</a:t>
            </a:r>
          </a:p>
          <a:p>
            <a:pPr marL="1143000" lvl="2" indent="-2286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Programme Coordinator: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First-level approval.</a:t>
            </a:r>
          </a:p>
          <a:p>
            <a:pPr marL="1143000" lvl="2" indent="-2286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Academic Manager: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Final approval</a:t>
            </a:r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210DC1-6AA8-0E40-59C8-EDBB6862DB2C}"/>
              </a:ext>
            </a:extLst>
          </p:cNvPr>
          <p:cNvSpPr txBox="1"/>
          <p:nvPr/>
        </p:nvSpPr>
        <p:spPr>
          <a:xfrm>
            <a:off x="830292" y="886108"/>
            <a:ext cx="6094562" cy="520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Updates from Part 2 to Part 3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Addressing Lecturer Feedback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HR as Super User: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Full user lifecycle management; public registration disabled.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Enhanced Lecturer View: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Hourly rate auto-pulled from HR; auto-calculation; 180-hour validation.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Session Management: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Comprehensive implementation as per module requirement.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Authorization &amp; Security: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Role-based access control; users cannot access unauthorized pages.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Report Generation: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Using LINQ for data analysis and report creation.</a:t>
            </a:r>
          </a:p>
        </p:txBody>
      </p:sp>
    </p:spTree>
    <p:extLst>
      <p:ext uri="{BB962C8B-B14F-4D97-AF65-F5344CB8AC3E}">
        <p14:creationId xmlns:p14="http://schemas.microsoft.com/office/powerpoint/2010/main" val="254603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EFD976-B5A2-50A1-1144-F591F7ABA4F0}"/>
              </a:ext>
            </a:extLst>
          </p:cNvPr>
          <p:cNvSpPr txBox="1"/>
          <p:nvPr/>
        </p:nvSpPr>
        <p:spPr>
          <a:xfrm>
            <a:off x="215660" y="469100"/>
            <a:ext cx="8770907" cy="5198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Key Feature 1: HR Super User Dashboard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HR Super User - Centralized Control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HR creates all users and sets their hourly rates.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No public registration.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Code Snippet (User Creation - C#):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dirty="0"/>
              <a:t>Explanation:</a:t>
            </a:r>
            <a:r>
              <a:rPr lang="en-ZA" dirty="0"/>
              <a:t> This code shows how HR creates a user profile, explicitly setting the </a:t>
            </a:r>
            <a:r>
              <a:rPr lang="en-ZA" dirty="0" err="1"/>
              <a:t>HourlyRate</a:t>
            </a:r>
            <a:r>
              <a:rPr lang="en-ZA" dirty="0"/>
              <a:t> that the lecturer will use.</a:t>
            </a:r>
          </a:p>
          <a:p>
            <a:pPr lvl="1" algn="l">
              <a:spcBef>
                <a:spcPts val="450"/>
              </a:spcBef>
              <a:spcAft>
                <a:spcPts val="600"/>
              </a:spcAft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A331F-FBD4-7D67-D638-BD95F8017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225" y="952154"/>
            <a:ext cx="6554115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9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56E6B4-0D6A-3410-6A04-15028EE3070A}"/>
              </a:ext>
            </a:extLst>
          </p:cNvPr>
          <p:cNvSpPr txBox="1"/>
          <p:nvPr/>
        </p:nvSpPr>
        <p:spPr>
          <a:xfrm>
            <a:off x="398971" y="279633"/>
            <a:ext cx="6094562" cy="571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Key Feature 2: Lecturer Auto-Calculation &amp; Validation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Streamlined Claim Submission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Hourly rate is auto-populated from the HR-set value.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Real-time auto-calculation of </a:t>
            </a:r>
            <a:r>
              <a:rPr lang="en-ZA" b="0" i="0" dirty="0">
                <a:solidFill>
                  <a:srgbClr val="F9FAFB"/>
                </a:solidFill>
                <a:effectLst/>
                <a:latin typeface="Menlo"/>
              </a:rPr>
              <a:t>Total Amount = Hours × Rate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Server-side validation enforces the 180-hour monthly maximum.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Code Snippet (JavaScript for Auto-Calculation):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dirty="0"/>
              <a:t>Explanation:</a:t>
            </a:r>
            <a:r>
              <a:rPr lang="en-ZA" dirty="0"/>
              <a:t> This client-side script provides immediate feedback to the lecturer as they enter their hours.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7FC0A1-4D47-8C6E-C2FB-A33630E0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413" y="3691373"/>
            <a:ext cx="6011114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8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E59512-3DFF-6DC5-7979-B4BD6FAFC20E}"/>
              </a:ext>
            </a:extLst>
          </p:cNvPr>
          <p:cNvSpPr txBox="1"/>
          <p:nvPr/>
        </p:nvSpPr>
        <p:spPr>
          <a:xfrm>
            <a:off x="252323" y="102448"/>
            <a:ext cx="6094562" cy="61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Key Feature 3: Session Management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PROG6212 Requirement: Session Implementation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User data is stored in session upon login.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Session is validated on every protected page/action.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Essential for maintaining user state and security.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Code Snippet (Session Check - C#):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dirty="0"/>
              <a:t>Explanation:</a:t>
            </a:r>
            <a:r>
              <a:rPr lang="en-ZA" dirty="0"/>
              <a:t> This controller code is a gatekeeper, ensuring only logged-in users can access the dashboard.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E697C-6D39-1307-10DC-1BB509BE2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562" y="2600627"/>
            <a:ext cx="5591955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4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42910C-A505-2976-1A6C-9D890B456C5A}"/>
              </a:ext>
            </a:extLst>
          </p:cNvPr>
          <p:cNvSpPr txBox="1"/>
          <p:nvPr/>
        </p:nvSpPr>
        <p:spPr>
          <a:xfrm>
            <a:off x="407598" y="285598"/>
            <a:ext cx="6094562" cy="6329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Key Feature 4: Authorization &amp; Security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Ensuring Role-Based Access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Menlo"/>
              </a:rPr>
              <a:t>[Authorize]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attributes on all controllers.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Role-based checks prevent unauthorized access.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Automatic redirection to login if unauthorized.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Code Snippet (Role Authorization - C#):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dirty="0"/>
              <a:t>Explanation:</a:t>
            </a:r>
            <a:r>
              <a:rPr lang="en-ZA" dirty="0"/>
              <a:t> This attribute restricts the </a:t>
            </a:r>
            <a:r>
              <a:rPr lang="en-ZA" dirty="0" err="1"/>
              <a:t>ReviewClaims</a:t>
            </a:r>
            <a:r>
              <a:rPr lang="en-ZA" dirty="0"/>
              <a:t> action to users with either the </a:t>
            </a:r>
            <a:r>
              <a:rPr lang="en-ZA" dirty="0" err="1"/>
              <a:t>ProgrammeCoordinator</a:t>
            </a:r>
            <a:r>
              <a:rPr lang="en-ZA" dirty="0"/>
              <a:t> or </a:t>
            </a:r>
            <a:r>
              <a:rPr lang="en-ZA" dirty="0" err="1"/>
              <a:t>AcademicManager</a:t>
            </a:r>
            <a:r>
              <a:rPr lang="en-ZA" dirty="0"/>
              <a:t> role.</a:t>
            </a:r>
          </a:p>
          <a:p>
            <a:pPr lvl="1" algn="l">
              <a:spcBef>
                <a:spcPts val="450"/>
              </a:spcBef>
              <a:spcAft>
                <a:spcPts val="600"/>
              </a:spcAft>
            </a:pP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4EF144-4C2A-1F4D-464C-3E3E2871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093" y="3223111"/>
            <a:ext cx="5877745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8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F0E223-5E3F-168A-2436-D78DE82B643E}"/>
              </a:ext>
            </a:extLst>
          </p:cNvPr>
          <p:cNvSpPr txBox="1"/>
          <p:nvPr/>
        </p:nvSpPr>
        <p:spPr>
          <a:xfrm>
            <a:off x="278202" y="236186"/>
            <a:ext cx="6094562" cy="673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Key Feature 5: LINQ Report Generation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Data Analysis with LINQ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HR can generate various reports using LINQ queries.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Example: Department-wise claim summary.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Code Snippet (LINQ </a:t>
            </a:r>
            <a:r>
              <a:rPr lang="en-ZA" b="1" i="0" dirty="0" err="1">
                <a:solidFill>
                  <a:srgbClr val="F9FAFB"/>
                </a:solidFill>
                <a:effectLst/>
                <a:latin typeface="quote-cjk-patch"/>
              </a:rPr>
              <a:t>GroupBy</a:t>
            </a: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 - C#):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dirty="0">
              <a:solidFill>
                <a:srgbClr val="F9FAFB"/>
              </a:solidFill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ZA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dirty="0"/>
              <a:t>Explanation:</a:t>
            </a:r>
            <a:r>
              <a:rPr lang="en-ZA" dirty="0"/>
              <a:t> This powerful LINQ query groups claims by department and calculates totals, showcasing the use of LINQ for reporting as required.</a:t>
            </a:r>
          </a:p>
          <a:p>
            <a:pPr lvl="1" algn="l">
              <a:spcBef>
                <a:spcPts val="450"/>
              </a:spcBef>
              <a:spcAft>
                <a:spcPts val="600"/>
              </a:spcAft>
            </a:pP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764F33-9937-610F-BE1D-1D86839A9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527" y="2652386"/>
            <a:ext cx="6525536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5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C7BDBB-5AF3-9E70-116C-198879B41839}"/>
              </a:ext>
            </a:extLst>
          </p:cNvPr>
          <p:cNvSpPr txBox="1"/>
          <p:nvPr/>
        </p:nvSpPr>
        <p:spPr>
          <a:xfrm>
            <a:off x="588752" y="758619"/>
            <a:ext cx="6094562" cy="409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Database &amp; Technology Stack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Under the Hood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Database: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SQL Server with Entity Framework Core (Code-First).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Backend: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ZA" b="0" i="0" u="none" strike="noStrike" dirty="0">
                <a:solidFill>
                  <a:srgbClr val="679EFE"/>
                </a:solidFill>
                <a:effectLst/>
                <a:latin typeface="quote-cjk-patch"/>
                <a:hlinkClick r:id="rId2"/>
              </a:rPr>
              <a:t>ASP.NET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Core 6.0 MVC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Authentication: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Cookie-based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Frontend: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Bootstrap 5, JavaScript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Session: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ZA" b="0" i="0" u="none" strike="noStrike" dirty="0">
                <a:solidFill>
                  <a:srgbClr val="679EFE"/>
                </a:solidFill>
                <a:effectLst/>
                <a:latin typeface="quote-cjk-patch"/>
                <a:hlinkClick r:id="rId2"/>
              </a:rPr>
              <a:t>ASP.NET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Core Session Middleware</a:t>
            </a:r>
          </a:p>
        </p:txBody>
      </p:sp>
    </p:spTree>
    <p:extLst>
      <p:ext uri="{BB962C8B-B14F-4D97-AF65-F5344CB8AC3E}">
        <p14:creationId xmlns:p14="http://schemas.microsoft.com/office/powerpoint/2010/main" val="302230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2CA4E2-D6B3-DC41-5B21-00123C8DDEDA}"/>
              </a:ext>
            </a:extLst>
          </p:cNvPr>
          <p:cNvSpPr txBox="1"/>
          <p:nvPr/>
        </p:nvSpPr>
        <p:spPr>
          <a:xfrm>
            <a:off x="718149" y="299512"/>
            <a:ext cx="6094562" cy="492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PROG6212 Checklist Compliance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Meeting the Brief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 (in checklist format):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HR View: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 Super User, User Management, LINQ Reports, No Register.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Lecturer View: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 Auto-rate, Auto-calculation, 180h Validation, Claim Tracking.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Admin Views: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 Separate Coord/Manager roles, Sessions, Authorization.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Version Control: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 10+ descriptive commits on GitHub.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Documentation:</a:t>
            </a:r>
            <a:r>
              <a:rPr lang="en-ZA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Updated README with Part 3 changes.</a:t>
            </a:r>
          </a:p>
        </p:txBody>
      </p:sp>
    </p:spTree>
    <p:extLst>
      <p:ext uri="{BB962C8B-B14F-4D97-AF65-F5344CB8AC3E}">
        <p14:creationId xmlns:p14="http://schemas.microsoft.com/office/powerpoint/2010/main" val="3201372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74B9B8-946B-BA2C-D255-E78BAABB37A7}"/>
              </a:ext>
            </a:extLst>
          </p:cNvPr>
          <p:cNvSpPr txBox="1"/>
          <p:nvPr/>
        </p:nvSpPr>
        <p:spPr>
          <a:xfrm>
            <a:off x="657764" y="306267"/>
            <a:ext cx="6094562" cy="5365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 Demonstration Walkthrough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Video Demonstration Highlights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HR creating a user and setting an hourly rate.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Lecturer logging in, submitting a claim (showcasing auto-calculation).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Triggering the 180-hour validation error.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Programme Coordinator approving a claim.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Academic Manager giving final approval.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Demonstrating session and unauthorized access prevention.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HR generating and downloading a report.</a:t>
            </a:r>
          </a:p>
        </p:txBody>
      </p:sp>
    </p:spTree>
    <p:extLst>
      <p:ext uri="{BB962C8B-B14F-4D97-AF65-F5344CB8AC3E}">
        <p14:creationId xmlns:p14="http://schemas.microsoft.com/office/powerpoint/2010/main" val="326104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F8797F-4A52-C644-5D03-24E65CA7B1D0}"/>
              </a:ext>
            </a:extLst>
          </p:cNvPr>
          <p:cNvSpPr txBox="1"/>
          <p:nvPr/>
        </p:nvSpPr>
        <p:spPr>
          <a:xfrm>
            <a:off x="933809" y="771822"/>
            <a:ext cx="6094562" cy="329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Title:</a:t>
            </a: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 Thank You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Content: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Successfully delivered a robust CMCS meeting all PROG6212 requirements.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Implemented key feedback from Part 2.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0" i="0" dirty="0">
                <a:solidFill>
                  <a:srgbClr val="F9FAFB"/>
                </a:solidFill>
                <a:effectLst/>
                <a:latin typeface="quote-cjk-patch"/>
              </a:rPr>
              <a:t>Demonstrated understanding of MVC, EF Core, Sessions, LINQ, and Security.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b="1" i="0" dirty="0">
                <a:solidFill>
                  <a:srgbClr val="F9FAFB"/>
                </a:solidFill>
                <a:effectLst/>
                <a:latin typeface="quote-cjk-patch"/>
              </a:rPr>
              <a:t>Questions?</a:t>
            </a:r>
            <a:endParaRPr lang="en-ZA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69155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{26DA9FE9-4E01-4ECA-9C66-5481E6652983}tf12214701_win32</Template>
  <TotalTime>17</TotalTime>
  <Words>734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Goudy Old Style</vt:lpstr>
      <vt:lpstr>Menlo</vt:lpstr>
      <vt:lpstr>quote-cjk-patch</vt:lpstr>
      <vt:lpstr>Wingdings 2</vt:lpstr>
      <vt:lpstr>SlateVTI</vt:lpstr>
      <vt:lpstr>PowerPoint Presentation: CMCS - PROG6212 Final POE Title: Contract Monthly Claim System (CMCS) Subtitle: PROG6212 Final Portfolio of Evidence (POE) Name: Muvhumbi Motseo Student Number: st10055316 Institution: Independent Institute of Education Emeris Date: 21 November 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Muvhumbi Motseo</dc:creator>
  <cp:lastModifiedBy>Muvhumbi Motseo</cp:lastModifiedBy>
  <cp:revision>1</cp:revision>
  <dcterms:created xsi:type="dcterms:W3CDTF">2025-11-21T21:07:07Z</dcterms:created>
  <dcterms:modified xsi:type="dcterms:W3CDTF">2025-11-21T21:24:27Z</dcterms:modified>
</cp:coreProperties>
</file>